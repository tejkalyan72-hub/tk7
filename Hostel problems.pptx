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5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3D3D3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5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3D3D3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73" y="2905670"/>
            <a:ext cx="188475" cy="74447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673" y="2198885"/>
            <a:ext cx="18313578" cy="785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5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5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9418" y="879942"/>
            <a:ext cx="10537190" cy="104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5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1056" y="3366279"/>
            <a:ext cx="8530590" cy="6186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3D3D3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942379"/>
            <a:ext cx="18219340" cy="94237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63848" y="2686170"/>
            <a:ext cx="6037580" cy="3135630"/>
          </a:xfrm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12700" marR="5080" indent="2309495">
              <a:lnSpc>
                <a:spcPts val="10880"/>
              </a:lnSpc>
              <a:spcBef>
                <a:spcPts val="2730"/>
              </a:spcBef>
            </a:pPr>
            <a:r>
              <a:rPr sz="11300" spc="-10" dirty="0">
                <a:solidFill>
                  <a:srgbClr val="2D2D2D"/>
                </a:solidFill>
                <a:latin typeface="Times New Roman"/>
                <a:cs typeface="Times New Roman"/>
              </a:rPr>
              <a:t>anage </a:t>
            </a:r>
            <a:r>
              <a:rPr sz="11300" spc="-350" dirty="0">
                <a:solidFill>
                  <a:srgbClr val="2D2D2D"/>
                </a:solidFill>
                <a:latin typeface="Times New Roman"/>
                <a:cs typeface="Times New Roman"/>
              </a:rPr>
              <a:t>ChAlenges</a:t>
            </a:r>
            <a:endParaRPr sz="1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6531" y="6349017"/>
            <a:ext cx="964628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92090" algn="l"/>
              </a:tabLst>
            </a:pPr>
            <a:r>
              <a:rPr sz="2950" spc="-45" dirty="0">
                <a:solidFill>
                  <a:srgbClr val="D67760"/>
                </a:solidFill>
                <a:latin typeface="Courier New"/>
                <a:cs typeface="Courier New"/>
              </a:rPr>
              <a:t>Addressing</a:t>
            </a:r>
            <a:r>
              <a:rPr sz="2950" spc="-315" dirty="0">
                <a:solidFill>
                  <a:srgbClr val="D67760"/>
                </a:solidFill>
                <a:latin typeface="Courier New"/>
                <a:cs typeface="Courier New"/>
              </a:rPr>
              <a:t> </a:t>
            </a:r>
            <a:r>
              <a:rPr sz="2950" spc="-10" dirty="0">
                <a:solidFill>
                  <a:srgbClr val="D37E5E"/>
                </a:solidFill>
                <a:latin typeface="Courier New"/>
                <a:cs typeface="Courier New"/>
              </a:rPr>
              <a:t>Discipline</a:t>
            </a:r>
            <a:r>
              <a:rPr sz="2950" dirty="0">
                <a:solidFill>
                  <a:srgbClr val="D37E5E"/>
                </a:solidFill>
                <a:latin typeface="Courier New"/>
                <a:cs typeface="Courier New"/>
              </a:rPr>
              <a:t>	</a:t>
            </a:r>
            <a:r>
              <a:rPr sz="2950" spc="-30" dirty="0">
                <a:solidFill>
                  <a:srgbClr val="D47C75"/>
                </a:solidFill>
                <a:latin typeface="Courier New"/>
                <a:cs typeface="Courier New"/>
              </a:rPr>
              <a:t>Resource</a:t>
            </a:r>
            <a:r>
              <a:rPr sz="2950" spc="-385" dirty="0">
                <a:solidFill>
                  <a:srgbClr val="D47C75"/>
                </a:solidFill>
                <a:latin typeface="Courier New"/>
                <a:cs typeface="Courier New"/>
              </a:rPr>
              <a:t> </a:t>
            </a:r>
            <a:r>
              <a:rPr sz="2950" spc="-65" dirty="0">
                <a:solidFill>
                  <a:srgbClr val="BD7560"/>
                </a:solidFill>
                <a:latin typeface="Courier New"/>
                <a:cs typeface="Courier New"/>
              </a:rPr>
              <a:t>Constraints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4812" y="7994909"/>
            <a:ext cx="4062729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114" dirty="0">
                <a:solidFill>
                  <a:srgbClr val="74AF99"/>
                </a:solidFill>
                <a:latin typeface="Calibri"/>
                <a:cs typeface="Calibri"/>
              </a:rPr>
              <a:t>Presented</a:t>
            </a:r>
            <a:r>
              <a:rPr sz="2050" spc="75" dirty="0">
                <a:solidFill>
                  <a:srgbClr val="74AF99"/>
                </a:solidFill>
                <a:latin typeface="Calibri"/>
                <a:cs typeface="Calibri"/>
              </a:rPr>
              <a:t> </a:t>
            </a:r>
            <a:r>
              <a:rPr sz="2050" spc="125" dirty="0">
                <a:solidFill>
                  <a:srgbClr val="82BFA5"/>
                </a:solidFill>
                <a:latin typeface="Calibri"/>
                <a:cs typeface="Calibri"/>
              </a:rPr>
              <a:t>by </a:t>
            </a:r>
            <a:r>
              <a:rPr sz="2050" spc="130" dirty="0">
                <a:solidFill>
                  <a:srgbClr val="85B59E"/>
                </a:solidFill>
                <a:latin typeface="Calibri"/>
                <a:cs typeface="Calibri"/>
              </a:rPr>
              <a:t>The</a:t>
            </a:r>
            <a:r>
              <a:rPr sz="2050" spc="65" dirty="0">
                <a:solidFill>
                  <a:srgbClr val="85B59E"/>
                </a:solidFill>
                <a:latin typeface="Calibri"/>
                <a:cs typeface="Calibri"/>
              </a:rPr>
              <a:t> </a:t>
            </a:r>
            <a:r>
              <a:rPr sz="2050" spc="85" dirty="0">
                <a:solidFill>
                  <a:srgbClr val="85C3A8"/>
                </a:solidFill>
                <a:latin typeface="Calibri"/>
                <a:cs typeface="Calibri"/>
              </a:rPr>
              <a:t>Warden's</a:t>
            </a:r>
            <a:r>
              <a:rPr sz="2050" spc="135" dirty="0">
                <a:solidFill>
                  <a:srgbClr val="85C3A8"/>
                </a:solidFill>
                <a:latin typeface="Calibri"/>
                <a:cs typeface="Calibri"/>
              </a:rPr>
              <a:t> </a:t>
            </a:r>
            <a:r>
              <a:rPr sz="2050" spc="55" dirty="0">
                <a:solidFill>
                  <a:srgbClr val="80AAA1"/>
                </a:solidFill>
                <a:latin typeface="Calibri"/>
                <a:cs typeface="Calibri"/>
              </a:rPr>
              <a:t>Office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20"/>
              </a:spcBef>
            </a:pPr>
            <a:r>
              <a:rPr spc="-120" dirty="0">
                <a:solidFill>
                  <a:srgbClr val="282828"/>
                </a:solidFill>
              </a:rPr>
              <a:t>The</a:t>
            </a:r>
            <a:r>
              <a:rPr spc="-640" dirty="0">
                <a:solidFill>
                  <a:srgbClr val="282828"/>
                </a:solidFill>
              </a:rPr>
              <a:t> </a:t>
            </a:r>
            <a:r>
              <a:rPr spc="-220" dirty="0">
                <a:solidFill>
                  <a:srgbClr val="2B2B2B"/>
                </a:solidFill>
              </a:rPr>
              <a:t>Current</a:t>
            </a:r>
            <a:r>
              <a:rPr spc="-114" dirty="0">
                <a:solidFill>
                  <a:srgbClr val="2B2B2B"/>
                </a:solidFill>
              </a:rPr>
              <a:t> </a:t>
            </a:r>
            <a:r>
              <a:rPr spc="-150" dirty="0">
                <a:solidFill>
                  <a:srgbClr val="2B2B2B"/>
                </a:solidFill>
              </a:rPr>
              <a:t>Landscape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7501" y="3466251"/>
            <a:ext cx="459740" cy="732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600" spc="-60" dirty="0">
                <a:solidFill>
                  <a:srgbClr val="E2775D"/>
                </a:solidFill>
                <a:latin typeface="Times New Roman"/>
                <a:cs typeface="Times New Roman"/>
              </a:rPr>
              <a:t>Ie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7363" y="3442692"/>
            <a:ext cx="4217035" cy="732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900" spc="-30" baseline="-5434" dirty="0">
                <a:solidFill>
                  <a:srgbClr val="242424"/>
                </a:solidFill>
                <a:latin typeface="Times New Roman"/>
                <a:cs typeface="Times New Roman"/>
              </a:rPr>
              <a:t>D%ip</a:t>
            </a:r>
            <a:r>
              <a:rPr sz="4600" spc="-20" dirty="0">
                <a:solidFill>
                  <a:srgbClr val="242424"/>
                </a:solidFill>
                <a:latin typeface="Times New Roman"/>
                <a:cs typeface="Times New Roman"/>
              </a:rPr>
              <a:t>linary</a:t>
            </a:r>
            <a:r>
              <a:rPr sz="4600" spc="-24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6900" spc="-97" baseline="-2415" dirty="0">
                <a:solidFill>
                  <a:srgbClr val="242424"/>
                </a:solidFill>
                <a:latin typeface="Times New Roman"/>
                <a:cs typeface="Times New Roman"/>
              </a:rPr>
              <a:t>Issues</a:t>
            </a:r>
            <a:endParaRPr sz="6900" baseline="-241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5227" y="4422374"/>
            <a:ext cx="7378065" cy="3289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6985">
              <a:lnSpc>
                <a:spcPct val="123100"/>
              </a:lnSpc>
              <a:spcBef>
                <a:spcPts val="130"/>
              </a:spcBef>
            </a:pPr>
            <a:r>
              <a:rPr sz="2700" spc="-120" dirty="0">
                <a:solidFill>
                  <a:srgbClr val="383838"/>
                </a:solidFill>
                <a:latin typeface="Arial MT"/>
                <a:cs typeface="Arial MT"/>
              </a:rPr>
              <a:t>Student</a:t>
            </a:r>
            <a:r>
              <a:rPr sz="2700" spc="2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700" spc="-135" dirty="0">
                <a:solidFill>
                  <a:srgbClr val="2F2F2F"/>
                </a:solidFill>
                <a:latin typeface="Arial MT"/>
                <a:cs typeface="Arial MT"/>
              </a:rPr>
              <a:t>non-compliance</a:t>
            </a:r>
            <a:r>
              <a:rPr sz="2700" spc="-7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700" spc="-114" dirty="0">
                <a:solidFill>
                  <a:srgbClr val="3F3F3F"/>
                </a:solidFill>
                <a:latin typeface="Arial MT"/>
                <a:cs typeface="Arial MT"/>
              </a:rPr>
              <a:t>has</a:t>
            </a:r>
            <a:r>
              <a:rPr sz="2700" spc="-5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700" spc="-95" dirty="0">
                <a:solidFill>
                  <a:srgbClr val="313131"/>
                </a:solidFill>
                <a:latin typeface="Arial MT"/>
                <a:cs typeface="Arial MT"/>
              </a:rPr>
              <a:t>risen</a:t>
            </a:r>
            <a:r>
              <a:rPr sz="2700" spc="-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700" spc="-105" dirty="0">
                <a:solidFill>
                  <a:srgbClr val="3B3B3B"/>
                </a:solidFill>
                <a:latin typeface="Arial MT"/>
                <a:cs typeface="Arial MT"/>
              </a:rPr>
              <a:t>significantly.</a:t>
            </a:r>
            <a:r>
              <a:rPr sz="2700" spc="-7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-25" dirty="0">
                <a:solidFill>
                  <a:srgbClr val="2F2F2F"/>
                </a:solidFill>
                <a:latin typeface="Arial MT"/>
                <a:cs typeface="Arial MT"/>
              </a:rPr>
              <a:t>The </a:t>
            </a:r>
            <a:r>
              <a:rPr sz="2700" spc="-95" dirty="0">
                <a:solidFill>
                  <a:srgbClr val="3F3F3F"/>
                </a:solidFill>
                <a:latin typeface="Arial MT"/>
                <a:cs typeface="Arial MT"/>
              </a:rPr>
              <a:t>primary </a:t>
            </a:r>
            <a:r>
              <a:rPr sz="2700" spc="-114" dirty="0">
                <a:solidFill>
                  <a:srgbClr val="3D3D3D"/>
                </a:solidFill>
                <a:latin typeface="Arial MT"/>
                <a:cs typeface="Arial MT"/>
              </a:rPr>
              <a:t>concerns</a:t>
            </a:r>
            <a:r>
              <a:rPr sz="2700" spc="-2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-90" dirty="0">
                <a:solidFill>
                  <a:srgbClr val="3D3D3D"/>
                </a:solidFill>
                <a:latin typeface="Arial MT"/>
                <a:cs typeface="Arial MT"/>
              </a:rPr>
              <a:t>are</a:t>
            </a:r>
            <a:r>
              <a:rPr sz="2700" spc="-10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-80" dirty="0">
                <a:solidFill>
                  <a:srgbClr val="2F2F2F"/>
                </a:solidFill>
                <a:latin typeface="Arial MT"/>
                <a:cs typeface="Arial MT"/>
              </a:rPr>
              <a:t>late</a:t>
            </a:r>
            <a:r>
              <a:rPr sz="2700" spc="-10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700" spc="-95" dirty="0">
                <a:solidFill>
                  <a:srgbClr val="2F2F2F"/>
                </a:solidFill>
                <a:latin typeface="Arial MT"/>
                <a:cs typeface="Arial MT"/>
              </a:rPr>
              <a:t>entries</a:t>
            </a:r>
            <a:r>
              <a:rPr sz="2700" spc="-4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700" spc="-140" dirty="0">
                <a:solidFill>
                  <a:srgbClr val="363636"/>
                </a:solidFill>
                <a:latin typeface="Arial MT"/>
                <a:cs typeface="Arial MT"/>
              </a:rPr>
              <a:t>beyond</a:t>
            </a:r>
            <a:r>
              <a:rPr sz="2700" spc="-5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700" spc="-95" dirty="0">
                <a:solidFill>
                  <a:srgbClr val="2F2F2F"/>
                </a:solidFill>
                <a:latin typeface="Arial MT"/>
                <a:cs typeface="Arial MT"/>
              </a:rPr>
              <a:t>curfew</a:t>
            </a:r>
            <a:r>
              <a:rPr sz="2700" spc="-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700" spc="-110" dirty="0">
                <a:solidFill>
                  <a:srgbClr val="424242"/>
                </a:solidFill>
                <a:latin typeface="Arial MT"/>
                <a:cs typeface="Arial MT"/>
              </a:rPr>
              <a:t>and </a:t>
            </a:r>
            <a:r>
              <a:rPr sz="2700" dirty="0">
                <a:solidFill>
                  <a:srgbClr val="424242"/>
                </a:solidFill>
                <a:latin typeface="Arial MT"/>
                <a:cs typeface="Arial MT"/>
              </a:rPr>
              <a:t>a</a:t>
            </a:r>
            <a:r>
              <a:rPr sz="2700" spc="-19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700" spc="-125" dirty="0">
                <a:solidFill>
                  <a:srgbClr val="2F2F2F"/>
                </a:solidFill>
                <a:latin typeface="Arial MT"/>
                <a:cs typeface="Arial MT"/>
              </a:rPr>
              <a:t>general</a:t>
            </a:r>
            <a:r>
              <a:rPr sz="2700" spc="-6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700" spc="-114" dirty="0">
                <a:solidFill>
                  <a:srgbClr val="3D3D3D"/>
                </a:solidFill>
                <a:latin typeface="Arial MT"/>
                <a:cs typeface="Arial MT"/>
              </a:rPr>
              <a:t>disregard</a:t>
            </a:r>
            <a:r>
              <a:rPr sz="2700" spc="-5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-30" dirty="0">
                <a:solidFill>
                  <a:srgbClr val="3D3D3D"/>
                </a:solidFill>
                <a:latin typeface="Arial MT"/>
                <a:cs typeface="Arial MT"/>
              </a:rPr>
              <a:t>for</a:t>
            </a:r>
            <a:r>
              <a:rPr sz="2700" spc="-1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-105" dirty="0">
                <a:solidFill>
                  <a:srgbClr val="3B3B3B"/>
                </a:solidFill>
                <a:latin typeface="Arial MT"/>
                <a:cs typeface="Arial MT"/>
              </a:rPr>
              <a:t>hostel</a:t>
            </a:r>
            <a:r>
              <a:rPr sz="2700" spc="-8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313131"/>
                </a:solidFill>
                <a:latin typeface="Arial MT"/>
                <a:cs typeface="Arial MT"/>
              </a:rPr>
              <a:t>timings.</a:t>
            </a:r>
            <a:endParaRPr sz="2700">
              <a:latin typeface="Arial MT"/>
              <a:cs typeface="Arial MT"/>
            </a:endParaRPr>
          </a:p>
          <a:p>
            <a:pPr marL="13335" marR="617855" indent="5715">
              <a:lnSpc>
                <a:spcPct val="129299"/>
              </a:lnSpc>
              <a:spcBef>
                <a:spcPts val="1825"/>
              </a:spcBef>
            </a:pPr>
            <a:r>
              <a:rPr sz="2550" spc="-35" dirty="0">
                <a:solidFill>
                  <a:srgbClr val="3F3F3F"/>
                </a:solidFill>
                <a:latin typeface="Arial MT"/>
                <a:cs typeface="Arial MT"/>
              </a:rPr>
              <a:t>This</a:t>
            </a:r>
            <a:r>
              <a:rPr sz="2550" spc="-14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383838"/>
                </a:solidFill>
                <a:latin typeface="Arial MT"/>
                <a:cs typeface="Arial MT"/>
              </a:rPr>
              <a:t>behavior</a:t>
            </a:r>
            <a:r>
              <a:rPr sz="2550" spc="7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383838"/>
                </a:solidFill>
                <a:latin typeface="Arial MT"/>
                <a:cs typeface="Arial MT"/>
              </a:rPr>
              <a:t>compromises</a:t>
            </a:r>
            <a:r>
              <a:rPr sz="2550" spc="5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sz="2550" spc="-12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63636"/>
                </a:solidFill>
                <a:latin typeface="Arial MT"/>
                <a:cs typeface="Arial MT"/>
              </a:rPr>
              <a:t>security</a:t>
            </a:r>
            <a:r>
              <a:rPr sz="2550" spc="-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D3D3D"/>
                </a:solidFill>
                <a:latin typeface="Arial MT"/>
                <a:cs typeface="Arial MT"/>
              </a:rPr>
              <a:t>of</a:t>
            </a:r>
            <a:r>
              <a:rPr sz="2550" spc="-7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414141"/>
                </a:solidFill>
                <a:latin typeface="Arial MT"/>
                <a:cs typeface="Arial MT"/>
              </a:rPr>
              <a:t>the </a:t>
            </a:r>
            <a:r>
              <a:rPr sz="2550" spc="-20" dirty="0">
                <a:solidFill>
                  <a:srgbClr val="3D3D3D"/>
                </a:solidFill>
                <a:latin typeface="Arial MT"/>
                <a:cs typeface="Arial MT"/>
              </a:rPr>
              <a:t>premises</a:t>
            </a:r>
            <a:r>
              <a:rPr sz="2550" spc="-8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14141"/>
                </a:solidFill>
                <a:latin typeface="Arial MT"/>
                <a:cs typeface="Arial MT"/>
              </a:rPr>
              <a:t>and</a:t>
            </a:r>
            <a:r>
              <a:rPr sz="2550" spc="-15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2F2F2F"/>
                </a:solidFill>
                <a:latin typeface="Arial MT"/>
                <a:cs typeface="Arial MT"/>
              </a:rPr>
              <a:t>disrupts</a:t>
            </a:r>
            <a:r>
              <a:rPr sz="2550" spc="-10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sz="2550" spc="-14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F3F3F"/>
                </a:solidFill>
                <a:latin typeface="Arial MT"/>
                <a:cs typeface="Arial MT"/>
              </a:rPr>
              <a:t>study</a:t>
            </a:r>
            <a:r>
              <a:rPr sz="2550" spc="-10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383838"/>
                </a:solidFill>
                <a:latin typeface="Arial MT"/>
                <a:cs typeface="Arial MT"/>
              </a:rPr>
              <a:t>environment</a:t>
            </a:r>
            <a:r>
              <a:rPr sz="2550" spc="7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3B3B3B"/>
                </a:solidFill>
                <a:latin typeface="Arial MT"/>
                <a:cs typeface="Arial MT"/>
              </a:rPr>
              <a:t>for </a:t>
            </a:r>
            <a:r>
              <a:rPr sz="2550" dirty="0">
                <a:solidFill>
                  <a:srgbClr val="343434"/>
                </a:solidFill>
                <a:latin typeface="Arial MT"/>
                <a:cs typeface="Arial MT"/>
              </a:rPr>
              <a:t>other</a:t>
            </a:r>
            <a:r>
              <a:rPr sz="2550" spc="-1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83838"/>
                </a:solidFill>
                <a:latin typeface="Arial MT"/>
                <a:cs typeface="Arial MT"/>
              </a:rPr>
              <a:t>residents.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56193" y="3483921"/>
            <a:ext cx="7273925" cy="3728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spc="135" dirty="0">
                <a:solidFill>
                  <a:srgbClr val="82B19A"/>
                </a:solidFill>
                <a:latin typeface="Arial MT"/>
                <a:cs typeface="Arial MT"/>
              </a:rPr>
              <a:t>e°</a:t>
            </a:r>
            <a:r>
              <a:rPr sz="4250" spc="385" dirty="0">
                <a:solidFill>
                  <a:srgbClr val="82B19A"/>
                </a:solidFill>
                <a:latin typeface="Arial MT"/>
                <a:cs typeface="Arial MT"/>
              </a:rPr>
              <a:t> </a:t>
            </a:r>
            <a:r>
              <a:rPr sz="4250" spc="-235" dirty="0">
                <a:solidFill>
                  <a:srgbClr val="242424"/>
                </a:solidFill>
                <a:latin typeface="Arial MT"/>
                <a:cs typeface="Arial MT"/>
              </a:rPr>
              <a:t>Resowce</a:t>
            </a:r>
            <a:r>
              <a:rPr sz="4250" spc="-28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4250" spc="-35" dirty="0">
                <a:solidFill>
                  <a:srgbClr val="1A1A1A"/>
                </a:solidFill>
                <a:latin typeface="Arial MT"/>
                <a:cs typeface="Arial MT"/>
              </a:rPr>
              <a:t>Shortage</a:t>
            </a:r>
            <a:endParaRPr sz="4250">
              <a:latin typeface="Arial MT"/>
              <a:cs typeface="Arial MT"/>
            </a:endParaRPr>
          </a:p>
          <a:p>
            <a:pPr marL="25400" marR="279400" indent="2540">
              <a:lnSpc>
                <a:spcPct val="120200"/>
              </a:lnSpc>
              <a:spcBef>
                <a:spcPts val="2475"/>
              </a:spcBef>
            </a:pPr>
            <a:r>
              <a:rPr sz="2700" spc="-180" dirty="0">
                <a:solidFill>
                  <a:srgbClr val="3D3D3D"/>
                </a:solidFill>
                <a:latin typeface="Arial MT"/>
                <a:cs typeface="Arial MT"/>
              </a:rPr>
              <a:t>We</a:t>
            </a:r>
            <a:r>
              <a:rPr sz="2700" spc="-1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-80" dirty="0">
                <a:solidFill>
                  <a:srgbClr val="3B3B3B"/>
                </a:solidFill>
                <a:latin typeface="Arial MT"/>
                <a:cs typeface="Arial MT"/>
              </a:rPr>
              <a:t>are</a:t>
            </a:r>
            <a:r>
              <a:rPr sz="2700" spc="-10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-114" dirty="0">
                <a:solidFill>
                  <a:srgbClr val="3B3B3B"/>
                </a:solidFill>
                <a:latin typeface="Arial MT"/>
                <a:cs typeface="Arial MT"/>
              </a:rPr>
              <a:t>operating</a:t>
            </a:r>
            <a:r>
              <a:rPr sz="2700" spc="-7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-100" dirty="0">
                <a:solidFill>
                  <a:srgbClr val="3D3D3D"/>
                </a:solidFill>
                <a:latin typeface="Arial MT"/>
                <a:cs typeface="Arial MT"/>
              </a:rPr>
              <a:t>under</a:t>
            </a:r>
            <a:r>
              <a:rPr sz="2700" spc="-5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-15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2700" spc="-2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700" spc="-120" dirty="0">
                <a:solidFill>
                  <a:srgbClr val="3A3A3A"/>
                </a:solidFill>
                <a:latin typeface="Arial MT"/>
                <a:cs typeface="Arial MT"/>
              </a:rPr>
              <a:t>constrained</a:t>
            </a:r>
            <a:r>
              <a:rPr sz="2700" spc="-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700" spc="-120" dirty="0">
                <a:solidFill>
                  <a:srgbClr val="3A3A3A"/>
                </a:solidFill>
                <a:latin typeface="Arial MT"/>
                <a:cs typeface="Arial MT"/>
              </a:rPr>
              <a:t>budget</a:t>
            </a:r>
            <a:r>
              <a:rPr sz="2700" spc="4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700" spc="-55" dirty="0">
                <a:solidFill>
                  <a:srgbClr val="363636"/>
                </a:solidFill>
                <a:latin typeface="Arial MT"/>
                <a:cs typeface="Arial MT"/>
              </a:rPr>
              <a:t>that </a:t>
            </a:r>
            <a:r>
              <a:rPr sz="2700" spc="-120" dirty="0">
                <a:solidFill>
                  <a:srgbClr val="414141"/>
                </a:solidFill>
                <a:latin typeface="Arial MT"/>
                <a:cs typeface="Arial MT"/>
              </a:rPr>
              <a:t>has</a:t>
            </a:r>
            <a:r>
              <a:rPr sz="2700" spc="-7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700" spc="-65" dirty="0">
                <a:solidFill>
                  <a:srgbClr val="3B3B3B"/>
                </a:solidFill>
                <a:latin typeface="Arial MT"/>
                <a:cs typeface="Arial MT"/>
              </a:rPr>
              <a:t>not</a:t>
            </a:r>
            <a:r>
              <a:rPr sz="2700" spc="-12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-85" dirty="0">
                <a:solidFill>
                  <a:srgbClr val="3B3B3B"/>
                </a:solidFill>
                <a:latin typeface="Arial MT"/>
                <a:cs typeface="Arial MT"/>
              </a:rPr>
              <a:t>kept</a:t>
            </a:r>
            <a:r>
              <a:rPr sz="2700" spc="-10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-120" dirty="0">
                <a:solidFill>
                  <a:srgbClr val="2F2F2F"/>
                </a:solidFill>
                <a:latin typeface="Arial MT"/>
                <a:cs typeface="Arial MT"/>
              </a:rPr>
              <a:t>pace</a:t>
            </a:r>
            <a:r>
              <a:rPr sz="2700" spc="-6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700" spc="-130" dirty="0">
                <a:solidFill>
                  <a:srgbClr val="3B3B3B"/>
                </a:solidFill>
                <a:latin typeface="Arial MT"/>
                <a:cs typeface="Arial MT"/>
              </a:rPr>
              <a:t>with</a:t>
            </a:r>
            <a:r>
              <a:rPr sz="2700" spc="-6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spc="-100" dirty="0">
                <a:solidFill>
                  <a:srgbClr val="3B3B3B"/>
                </a:solidFill>
                <a:latin typeface="Arial MT"/>
                <a:cs typeface="Arial MT"/>
              </a:rPr>
              <a:t>inflation</a:t>
            </a:r>
            <a:r>
              <a:rPr sz="2700" spc="-4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3D3D3D"/>
                </a:solidFill>
                <a:latin typeface="Arial MT"/>
                <a:cs typeface="Arial MT"/>
              </a:rPr>
              <a:t>or</a:t>
            </a:r>
            <a:r>
              <a:rPr sz="2700" spc="-1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700" spc="-135" dirty="0">
                <a:solidFill>
                  <a:srgbClr val="313131"/>
                </a:solidFill>
                <a:latin typeface="Arial MT"/>
                <a:cs typeface="Arial MT"/>
              </a:rPr>
              <a:t>wear-and-</a:t>
            </a:r>
            <a:r>
              <a:rPr sz="2700" spc="-10" dirty="0">
                <a:solidFill>
                  <a:srgbClr val="313131"/>
                </a:solidFill>
                <a:latin typeface="Arial MT"/>
                <a:cs typeface="Arial MT"/>
              </a:rPr>
              <a:t>tear.</a:t>
            </a:r>
            <a:endParaRPr sz="2700">
              <a:latin typeface="Arial MT"/>
              <a:cs typeface="Arial MT"/>
            </a:endParaRPr>
          </a:p>
          <a:p>
            <a:pPr marL="26034" marR="5080" indent="2540">
              <a:lnSpc>
                <a:spcPct val="122100"/>
              </a:lnSpc>
              <a:spcBef>
                <a:spcPts val="1914"/>
              </a:spcBef>
            </a:pPr>
            <a:r>
              <a:rPr sz="2700" spc="-125" dirty="0">
                <a:solidFill>
                  <a:srgbClr val="363636"/>
                </a:solidFill>
                <a:latin typeface="Arial MT"/>
                <a:cs typeface="Arial MT"/>
              </a:rPr>
              <a:t>Essential</a:t>
            </a:r>
            <a:r>
              <a:rPr sz="2700" spc="-6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700" spc="-95" dirty="0">
                <a:solidFill>
                  <a:srgbClr val="414141"/>
                </a:solidFill>
                <a:latin typeface="Arial MT"/>
                <a:cs typeface="Arial MT"/>
              </a:rPr>
              <a:t>repairs</a:t>
            </a:r>
            <a:r>
              <a:rPr sz="2700" spc="-3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700" spc="-95" dirty="0">
                <a:solidFill>
                  <a:srgbClr val="444444"/>
                </a:solidFill>
                <a:latin typeface="Arial MT"/>
                <a:cs typeface="Arial MT"/>
              </a:rPr>
              <a:t>are </a:t>
            </a:r>
            <a:r>
              <a:rPr sz="2700" spc="-125" dirty="0">
                <a:solidFill>
                  <a:srgbClr val="414141"/>
                </a:solidFill>
                <a:latin typeface="Arial MT"/>
                <a:cs typeface="Arial MT"/>
              </a:rPr>
              <a:t>being</a:t>
            </a:r>
            <a:r>
              <a:rPr sz="2700" spc="-5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700" spc="-125" dirty="0">
                <a:solidFill>
                  <a:srgbClr val="444444"/>
                </a:solidFill>
                <a:latin typeface="Arial MT"/>
                <a:cs typeface="Arial MT"/>
              </a:rPr>
              <a:t>delayed,</a:t>
            </a:r>
            <a:r>
              <a:rPr sz="2700" spc="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700" spc="-135" dirty="0">
                <a:solidFill>
                  <a:srgbClr val="3F3F3F"/>
                </a:solidFill>
                <a:latin typeface="Arial MT"/>
                <a:cs typeface="Arial MT"/>
              </a:rPr>
              <a:t>leading</a:t>
            </a:r>
            <a:r>
              <a:rPr sz="2700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700" spc="-25" dirty="0">
                <a:solidFill>
                  <a:srgbClr val="2D2D2D"/>
                </a:solidFill>
                <a:latin typeface="Arial MT"/>
                <a:cs typeface="Arial MT"/>
              </a:rPr>
              <a:t>to </a:t>
            </a:r>
            <a:r>
              <a:rPr sz="2700" spc="-105" dirty="0">
                <a:solidFill>
                  <a:srgbClr val="363636"/>
                </a:solidFill>
                <a:latin typeface="Arial MT"/>
                <a:cs typeface="Arial MT"/>
              </a:rPr>
              <a:t>deteriorating</a:t>
            </a:r>
            <a:r>
              <a:rPr sz="2700" spc="-8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700" spc="-80" dirty="0">
                <a:solidFill>
                  <a:srgbClr val="2D2D2D"/>
                </a:solidFill>
                <a:latin typeface="Arial MT"/>
                <a:cs typeface="Arial MT"/>
              </a:rPr>
              <a:t>infrastructure,</a:t>
            </a:r>
            <a:r>
              <a:rPr sz="2700" spc="-10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700" spc="-135" dirty="0">
                <a:solidFill>
                  <a:srgbClr val="3F3F3F"/>
                </a:solidFill>
                <a:latin typeface="Arial MT"/>
                <a:cs typeface="Arial MT"/>
              </a:rPr>
              <a:t>plumbing</a:t>
            </a:r>
            <a:r>
              <a:rPr sz="2700" spc="-1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700" spc="-90" dirty="0">
                <a:solidFill>
                  <a:srgbClr val="383838"/>
                </a:solidFill>
                <a:latin typeface="Arial MT"/>
                <a:cs typeface="Arial MT"/>
              </a:rPr>
              <a:t>failures,</a:t>
            </a:r>
            <a:r>
              <a:rPr sz="2700" spc="6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700" spc="-135" dirty="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sz="27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700" spc="-50" dirty="0">
                <a:solidFill>
                  <a:srgbClr val="4B4B4B"/>
                </a:solidFill>
                <a:latin typeface="Arial MT"/>
                <a:cs typeface="Arial MT"/>
              </a:rPr>
              <a:t>a </a:t>
            </a:r>
            <a:r>
              <a:rPr sz="2700" spc="-95" dirty="0">
                <a:solidFill>
                  <a:srgbClr val="3A3A3A"/>
                </a:solidFill>
                <a:latin typeface="Arial MT"/>
                <a:cs typeface="Arial MT"/>
              </a:rPr>
              <a:t>lack </a:t>
            </a:r>
            <a:r>
              <a:rPr sz="2700" spc="-10" dirty="0">
                <a:solidFill>
                  <a:srgbClr val="363636"/>
                </a:solidFill>
                <a:latin typeface="Arial MT"/>
                <a:cs typeface="Arial MT"/>
              </a:rPr>
              <a:t>of</a:t>
            </a:r>
            <a:r>
              <a:rPr sz="2700" spc="-1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700" spc="-110" dirty="0">
                <a:solidFill>
                  <a:srgbClr val="3F3F3F"/>
                </a:solidFill>
                <a:latin typeface="Arial MT"/>
                <a:cs typeface="Arial MT"/>
              </a:rPr>
              <a:t>basic</a:t>
            </a:r>
            <a:r>
              <a:rPr sz="2700" spc="-7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700" spc="-45" dirty="0">
                <a:solidFill>
                  <a:srgbClr val="3F3F3F"/>
                </a:solidFill>
                <a:latin typeface="Arial MT"/>
                <a:cs typeface="Arial MT"/>
              </a:rPr>
              <a:t>amenities.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5118" y="3486804"/>
            <a:ext cx="4711898" cy="62825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700" spc="-285" dirty="0">
                <a:solidFill>
                  <a:srgbClr val="2A2A2A"/>
                </a:solidFill>
              </a:rPr>
              <a:t>Problem</a:t>
            </a:r>
            <a:r>
              <a:rPr sz="6700" spc="-10" dirty="0">
                <a:solidFill>
                  <a:srgbClr val="2A2A2A"/>
                </a:solidFill>
              </a:rPr>
              <a:t> </a:t>
            </a:r>
            <a:r>
              <a:rPr sz="6700" spc="-254" dirty="0">
                <a:solidFill>
                  <a:srgbClr val="282828"/>
                </a:solidFill>
              </a:rPr>
              <a:t>Area:</a:t>
            </a:r>
            <a:r>
              <a:rPr sz="6700" spc="-520" dirty="0">
                <a:solidFill>
                  <a:srgbClr val="282828"/>
                </a:solidFill>
              </a:rPr>
              <a:t> </a:t>
            </a:r>
            <a:r>
              <a:rPr sz="6700" spc="-325" dirty="0"/>
              <a:t>Non-</a:t>
            </a:r>
            <a:r>
              <a:rPr sz="6700" spc="-320" dirty="0"/>
              <a:t>Compliance</a:t>
            </a:r>
            <a:endParaRPr sz="67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82930" marR="5080" indent="-5715">
              <a:lnSpc>
                <a:spcPct val="132700"/>
              </a:lnSpc>
              <a:spcBef>
                <a:spcPts val="140"/>
              </a:spcBef>
            </a:pPr>
            <a:r>
              <a:rPr sz="2800" dirty="0">
                <a:solidFill>
                  <a:srgbClr val="414141"/>
                </a:solidFill>
              </a:rPr>
              <a:t>Late</a:t>
            </a:r>
            <a:r>
              <a:rPr sz="2800" spc="-150" dirty="0">
                <a:solidFill>
                  <a:srgbClr val="414141"/>
                </a:solidFill>
              </a:rPr>
              <a:t> </a:t>
            </a:r>
            <a:r>
              <a:rPr sz="2800" spc="65" dirty="0">
                <a:solidFill>
                  <a:srgbClr val="3B3B3B"/>
                </a:solidFill>
              </a:rPr>
              <a:t>Entry</a:t>
            </a:r>
            <a:r>
              <a:rPr sz="2800" spc="-120" dirty="0">
                <a:solidFill>
                  <a:srgbClr val="3B3B3B"/>
                </a:solidFill>
              </a:rPr>
              <a:t> </a:t>
            </a:r>
            <a:r>
              <a:rPr sz="2800" spc="55" dirty="0">
                <a:solidFill>
                  <a:srgbClr val="363636"/>
                </a:solidFill>
              </a:rPr>
              <a:t>Risks:</a:t>
            </a:r>
            <a:r>
              <a:rPr sz="2800" spc="-110" dirty="0">
                <a:solidFill>
                  <a:srgbClr val="363636"/>
                </a:solidFill>
              </a:rPr>
              <a:t> </a:t>
            </a:r>
            <a:r>
              <a:rPr sz="2800" spc="-40" dirty="0">
                <a:solidFill>
                  <a:srgbClr val="3F3F3F"/>
                </a:solidFill>
              </a:rPr>
              <a:t>Students</a:t>
            </a:r>
            <a:r>
              <a:rPr sz="2800" spc="-60" dirty="0">
                <a:solidFill>
                  <a:srgbClr val="3F3F3F"/>
                </a:solidFill>
              </a:rPr>
              <a:t> </a:t>
            </a:r>
            <a:r>
              <a:rPr sz="2800" spc="-70" dirty="0">
                <a:solidFill>
                  <a:srgbClr val="383838"/>
                </a:solidFill>
              </a:rPr>
              <a:t>returning</a:t>
            </a:r>
            <a:r>
              <a:rPr sz="2800" spc="40" dirty="0">
                <a:solidFill>
                  <a:srgbClr val="383838"/>
                </a:solidFill>
              </a:rPr>
              <a:t> </a:t>
            </a:r>
            <a:r>
              <a:rPr sz="2800" spc="-55" dirty="0"/>
              <a:t>after</a:t>
            </a:r>
            <a:r>
              <a:rPr sz="2800" spc="-25" dirty="0"/>
              <a:t> </a:t>
            </a:r>
            <a:r>
              <a:rPr sz="2800" spc="-10" dirty="0"/>
              <a:t>gates </a:t>
            </a:r>
            <a:r>
              <a:rPr dirty="0"/>
              <a:t>close</a:t>
            </a:r>
            <a:r>
              <a:rPr spc="-60" dirty="0"/>
              <a:t> </a:t>
            </a:r>
            <a:r>
              <a:rPr dirty="0">
                <a:solidFill>
                  <a:srgbClr val="3F3F3F"/>
                </a:solidFill>
              </a:rPr>
              <a:t>create</a:t>
            </a:r>
            <a:r>
              <a:rPr spc="-8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B3B3B"/>
                </a:solidFill>
              </a:rPr>
              <a:t>security</a:t>
            </a:r>
            <a:r>
              <a:rPr spc="-50" dirty="0">
                <a:solidFill>
                  <a:srgbClr val="3B3B3B"/>
                </a:solidFill>
              </a:rPr>
              <a:t> </a:t>
            </a:r>
            <a:r>
              <a:rPr dirty="0"/>
              <a:t>vulnerabilities</a:t>
            </a:r>
            <a:r>
              <a:rPr spc="-155" dirty="0"/>
              <a:t> </a:t>
            </a:r>
            <a:r>
              <a:rPr dirty="0">
                <a:solidFill>
                  <a:srgbClr val="414141"/>
                </a:solidFill>
              </a:rPr>
              <a:t>and</a:t>
            </a:r>
            <a:r>
              <a:rPr spc="-145" dirty="0">
                <a:solidFill>
                  <a:srgbClr val="414141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require</a:t>
            </a:r>
            <a:r>
              <a:rPr spc="-45" dirty="0">
                <a:solidFill>
                  <a:srgbClr val="3F3F3F"/>
                </a:solidFill>
              </a:rPr>
              <a:t> </a:t>
            </a:r>
            <a:r>
              <a:rPr spc="-10" dirty="0"/>
              <a:t>extra </a:t>
            </a:r>
            <a:r>
              <a:rPr dirty="0">
                <a:solidFill>
                  <a:srgbClr val="444444"/>
                </a:solidFill>
              </a:rPr>
              <a:t>staff</a:t>
            </a:r>
            <a:r>
              <a:rPr spc="-95" dirty="0">
                <a:solidFill>
                  <a:srgbClr val="444444"/>
                </a:solidFill>
              </a:rPr>
              <a:t> </a:t>
            </a:r>
            <a:r>
              <a:rPr spc="-10" dirty="0">
                <a:solidFill>
                  <a:srgbClr val="363636"/>
                </a:solidFill>
              </a:rPr>
              <a:t>monitoring.</a:t>
            </a:r>
            <a:endParaRPr sz="2800"/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/>
          </a:p>
          <a:p>
            <a:pPr marL="581660" marR="591820" indent="-539750">
              <a:lnSpc>
                <a:spcPct val="131700"/>
              </a:lnSpc>
              <a:tabLst>
                <a:tab pos="572135" algn="l"/>
              </a:tabLst>
            </a:pPr>
            <a:r>
              <a:rPr spc="-50" dirty="0">
                <a:solidFill>
                  <a:srgbClr val="DD7960"/>
                </a:solidFill>
              </a:rPr>
              <a:t>a</a:t>
            </a:r>
            <a:r>
              <a:rPr dirty="0">
                <a:solidFill>
                  <a:srgbClr val="DD7960"/>
                </a:solidFill>
              </a:rPr>
              <a:t>	</a:t>
            </a:r>
            <a:r>
              <a:rPr spc="105" dirty="0"/>
              <a:t>Ignoring</a:t>
            </a:r>
            <a:r>
              <a:rPr spc="-140" dirty="0"/>
              <a:t> </a:t>
            </a:r>
            <a:r>
              <a:rPr spc="95" dirty="0">
                <a:solidFill>
                  <a:srgbClr val="3F3F3F"/>
                </a:solidFill>
              </a:rPr>
              <a:t>Timings:</a:t>
            </a:r>
            <a:r>
              <a:rPr spc="5" dirty="0">
                <a:solidFill>
                  <a:srgbClr val="3F3F3F"/>
                </a:solidFill>
              </a:rPr>
              <a:t> </a:t>
            </a:r>
            <a:r>
              <a:rPr dirty="0">
                <a:solidFill>
                  <a:srgbClr val="3B3B3B"/>
                </a:solidFill>
              </a:rPr>
              <a:t>Disregard</a:t>
            </a:r>
            <a:r>
              <a:rPr spc="-10" dirty="0">
                <a:solidFill>
                  <a:srgbClr val="3B3B3B"/>
                </a:solidFill>
              </a:rPr>
              <a:t> </a:t>
            </a:r>
            <a:r>
              <a:rPr dirty="0">
                <a:solidFill>
                  <a:srgbClr val="414141"/>
                </a:solidFill>
              </a:rPr>
              <a:t>for</a:t>
            </a:r>
            <a:r>
              <a:rPr spc="-25" dirty="0">
                <a:solidFill>
                  <a:srgbClr val="414141"/>
                </a:solidFill>
              </a:rPr>
              <a:t> </a:t>
            </a:r>
            <a:r>
              <a:rPr dirty="0">
                <a:solidFill>
                  <a:srgbClr val="383838"/>
                </a:solidFill>
              </a:rPr>
              <a:t>quiet</a:t>
            </a:r>
            <a:r>
              <a:rPr spc="-30" dirty="0">
                <a:solidFill>
                  <a:srgbClr val="383838"/>
                </a:solidFill>
              </a:rPr>
              <a:t> </a:t>
            </a:r>
            <a:r>
              <a:rPr dirty="0"/>
              <a:t>hours</a:t>
            </a:r>
            <a:r>
              <a:rPr spc="-10" dirty="0"/>
              <a:t> </a:t>
            </a:r>
            <a:r>
              <a:rPr spc="-25" dirty="0">
                <a:solidFill>
                  <a:srgbClr val="3A3A3A"/>
                </a:solidFill>
              </a:rPr>
              <a:t>and </a:t>
            </a:r>
            <a:r>
              <a:rPr dirty="0"/>
              <a:t>mess</a:t>
            </a:r>
            <a:r>
              <a:rPr spc="-125" dirty="0"/>
              <a:t> </a:t>
            </a:r>
            <a:r>
              <a:rPr dirty="0">
                <a:solidFill>
                  <a:srgbClr val="333333"/>
                </a:solidFill>
              </a:rPr>
              <a:t>timings</a:t>
            </a:r>
            <a:r>
              <a:rPr spc="-45" dirty="0">
                <a:solidFill>
                  <a:srgbClr val="333333"/>
                </a:solidFill>
              </a:rPr>
              <a:t> </a:t>
            </a:r>
            <a:r>
              <a:rPr dirty="0"/>
              <a:t>disturbs</a:t>
            </a:r>
            <a:r>
              <a:rPr spc="-50" dirty="0"/>
              <a:t> </a:t>
            </a:r>
            <a:r>
              <a:rPr dirty="0">
                <a:solidFill>
                  <a:srgbClr val="3B3B3B"/>
                </a:solidFill>
              </a:rPr>
              <a:t>the</a:t>
            </a:r>
            <a:r>
              <a:rPr spc="-110" dirty="0">
                <a:solidFill>
                  <a:srgbClr val="3B3B3B"/>
                </a:solidFill>
              </a:rPr>
              <a:t> </a:t>
            </a:r>
            <a:r>
              <a:rPr spc="-10" dirty="0">
                <a:solidFill>
                  <a:srgbClr val="3B3B3B"/>
                </a:solidFill>
              </a:rPr>
              <a:t>community</a:t>
            </a:r>
            <a:r>
              <a:rPr spc="100" dirty="0">
                <a:solidFill>
                  <a:srgbClr val="3B3B3B"/>
                </a:solidFill>
              </a:rPr>
              <a:t> </a:t>
            </a:r>
            <a:r>
              <a:rPr spc="-10" dirty="0"/>
              <a:t>order.</a:t>
            </a: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pc="-10" dirty="0"/>
          </a:p>
          <a:p>
            <a:pPr marL="55244">
              <a:lnSpc>
                <a:spcPct val="100000"/>
              </a:lnSpc>
              <a:tabLst>
                <a:tab pos="575945" algn="l"/>
              </a:tabLst>
            </a:pPr>
            <a:r>
              <a:rPr sz="2800" spc="135" dirty="0">
                <a:solidFill>
                  <a:srgbClr val="DD7960"/>
                </a:solidFill>
              </a:rPr>
              <a:t>A</a:t>
            </a:r>
            <a:r>
              <a:rPr sz="2800" dirty="0">
                <a:solidFill>
                  <a:srgbClr val="DD7960"/>
                </a:solidFill>
              </a:rPr>
              <a:t>	</a:t>
            </a:r>
            <a:r>
              <a:rPr sz="2800" dirty="0">
                <a:solidFill>
                  <a:srgbClr val="414141"/>
                </a:solidFill>
              </a:rPr>
              <a:t>Rule</a:t>
            </a:r>
            <a:r>
              <a:rPr sz="2800" spc="-65" dirty="0">
                <a:solidFill>
                  <a:srgbClr val="414141"/>
                </a:solidFill>
              </a:rPr>
              <a:t> </a:t>
            </a:r>
            <a:r>
              <a:rPr sz="2800" dirty="0">
                <a:solidFill>
                  <a:srgbClr val="3B3B3B"/>
                </a:solidFill>
              </a:rPr>
              <a:t>Enforcement</a:t>
            </a:r>
            <a:r>
              <a:rPr sz="2800" spc="125" dirty="0">
                <a:solidFill>
                  <a:srgbClr val="3B3B3B"/>
                </a:solidFill>
              </a:rPr>
              <a:t> </a:t>
            </a:r>
            <a:r>
              <a:rPr sz="2800" dirty="0">
                <a:solidFill>
                  <a:srgbClr val="3F3F3F"/>
                </a:solidFill>
              </a:rPr>
              <a:t>Gap:</a:t>
            </a:r>
            <a:r>
              <a:rPr sz="2800" spc="-55" dirty="0">
                <a:solidFill>
                  <a:srgbClr val="3F3F3F"/>
                </a:solidFill>
              </a:rPr>
              <a:t> </a:t>
            </a:r>
            <a:r>
              <a:rPr sz="2800" spc="-65" dirty="0">
                <a:solidFill>
                  <a:srgbClr val="414141"/>
                </a:solidFill>
              </a:rPr>
              <a:t>Current</a:t>
            </a:r>
            <a:r>
              <a:rPr sz="2800" spc="25" dirty="0">
                <a:solidFill>
                  <a:srgbClr val="414141"/>
                </a:solidFill>
              </a:rPr>
              <a:t> </a:t>
            </a:r>
            <a:r>
              <a:rPr sz="2800" spc="-80" dirty="0">
                <a:solidFill>
                  <a:srgbClr val="3F3F3F"/>
                </a:solidFill>
              </a:rPr>
              <a:t>manual</a:t>
            </a:r>
            <a:r>
              <a:rPr sz="2800" spc="110" dirty="0">
                <a:solidFill>
                  <a:srgbClr val="3F3F3F"/>
                </a:solidFill>
              </a:rPr>
              <a:t> </a:t>
            </a:r>
            <a:r>
              <a:rPr sz="2800" spc="-10" dirty="0">
                <a:solidFill>
                  <a:srgbClr val="3F3F3F"/>
                </a:solidFill>
              </a:rPr>
              <a:t>monitoring</a:t>
            </a:r>
            <a:endParaRPr sz="2800"/>
          </a:p>
          <a:p>
            <a:pPr marL="581660">
              <a:lnSpc>
                <a:spcPct val="100000"/>
              </a:lnSpc>
              <a:spcBef>
                <a:spcPts val="1070"/>
              </a:spcBef>
            </a:pPr>
            <a:r>
              <a:rPr dirty="0">
                <a:solidFill>
                  <a:srgbClr val="444444"/>
                </a:solidFill>
              </a:rPr>
              <a:t>is</a:t>
            </a:r>
            <a:r>
              <a:rPr spc="-190" dirty="0">
                <a:solidFill>
                  <a:srgbClr val="444444"/>
                </a:solidFill>
              </a:rPr>
              <a:t> </a:t>
            </a:r>
            <a:r>
              <a:rPr dirty="0">
                <a:solidFill>
                  <a:srgbClr val="313131"/>
                </a:solidFill>
              </a:rPr>
              <a:t>ineffective</a:t>
            </a:r>
            <a:r>
              <a:rPr spc="-35" dirty="0">
                <a:solidFill>
                  <a:srgbClr val="313131"/>
                </a:solidFill>
              </a:rPr>
              <a:t> </a:t>
            </a:r>
            <a:r>
              <a:rPr dirty="0">
                <a:solidFill>
                  <a:srgbClr val="3F3F3F"/>
                </a:solidFill>
              </a:rPr>
              <a:t>against</a:t>
            </a:r>
            <a:r>
              <a:rPr spc="-40" dirty="0">
                <a:solidFill>
                  <a:srgbClr val="3F3F3F"/>
                </a:solidFill>
              </a:rPr>
              <a:t> </a:t>
            </a:r>
            <a:r>
              <a:rPr spc="-10" dirty="0">
                <a:solidFill>
                  <a:srgbClr val="3B3B3B"/>
                </a:solidFill>
              </a:rPr>
              <a:t>persistent</a:t>
            </a:r>
            <a:r>
              <a:rPr spc="-15" dirty="0">
                <a:solidFill>
                  <a:srgbClr val="3B3B3B"/>
                </a:solidFill>
              </a:rPr>
              <a:t> </a:t>
            </a:r>
            <a:r>
              <a:rPr spc="-10" dirty="0">
                <a:solidFill>
                  <a:srgbClr val="424242"/>
                </a:solidFill>
              </a:rPr>
              <a:t>violators.</a:t>
            </a:r>
          </a:p>
          <a:p>
            <a:pPr marL="581660" marR="9525" indent="-569595">
              <a:lnSpc>
                <a:spcPct val="133600"/>
              </a:lnSpc>
              <a:spcBef>
                <a:spcPts val="3090"/>
              </a:spcBef>
              <a:tabLst>
                <a:tab pos="572135" algn="l"/>
              </a:tabLst>
            </a:pPr>
            <a:r>
              <a:rPr spc="-50" dirty="0">
                <a:solidFill>
                  <a:srgbClr val="DA7C62"/>
                </a:solidFill>
              </a:rPr>
              <a:t>@</a:t>
            </a:r>
            <a:r>
              <a:rPr dirty="0">
                <a:solidFill>
                  <a:srgbClr val="DA7C62"/>
                </a:solidFill>
              </a:rPr>
              <a:t>	</a:t>
            </a:r>
            <a:r>
              <a:rPr spc="80" dirty="0">
                <a:solidFill>
                  <a:srgbClr val="333333"/>
                </a:solidFill>
              </a:rPr>
              <a:t>Impact:</a:t>
            </a:r>
            <a:r>
              <a:rPr spc="-135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63636"/>
                </a:solidFill>
              </a:rPr>
              <a:t>A</a:t>
            </a:r>
            <a:r>
              <a:rPr spc="-135" dirty="0">
                <a:solidFill>
                  <a:srgbClr val="363636"/>
                </a:solidFill>
              </a:rPr>
              <a:t> </a:t>
            </a:r>
            <a:r>
              <a:rPr dirty="0">
                <a:solidFill>
                  <a:srgbClr val="3B3B3B"/>
                </a:solidFill>
              </a:rPr>
              <a:t>chaotic</a:t>
            </a:r>
            <a:r>
              <a:rPr spc="60" dirty="0">
                <a:solidFill>
                  <a:srgbClr val="3B3B3B"/>
                </a:solidFill>
              </a:rPr>
              <a:t> </a:t>
            </a:r>
            <a:r>
              <a:rPr spc="-20" dirty="0">
                <a:solidFill>
                  <a:srgbClr val="313131"/>
                </a:solidFill>
              </a:rPr>
              <a:t>environment</a:t>
            </a:r>
            <a:r>
              <a:rPr spc="60" dirty="0">
                <a:solidFill>
                  <a:srgbClr val="313131"/>
                </a:solidFill>
              </a:rPr>
              <a:t> </a:t>
            </a:r>
            <a:r>
              <a:rPr dirty="0">
                <a:solidFill>
                  <a:srgbClr val="3B3B3B"/>
                </a:solidFill>
              </a:rPr>
              <a:t>that</a:t>
            </a:r>
            <a:r>
              <a:rPr spc="-35" dirty="0">
                <a:solidFill>
                  <a:srgbClr val="3B3B3B"/>
                </a:solidFill>
              </a:rPr>
              <a:t> </a:t>
            </a:r>
            <a:r>
              <a:rPr dirty="0">
                <a:solidFill>
                  <a:srgbClr val="3B3B3B"/>
                </a:solidFill>
              </a:rPr>
              <a:t>affects</a:t>
            </a:r>
            <a:r>
              <a:rPr spc="-45" dirty="0">
                <a:solidFill>
                  <a:srgbClr val="3B3B3B"/>
                </a:solidFill>
              </a:rPr>
              <a:t> </a:t>
            </a:r>
            <a:r>
              <a:rPr spc="-30" dirty="0">
                <a:solidFill>
                  <a:srgbClr val="3A3A3A"/>
                </a:solidFill>
              </a:rPr>
              <a:t>academic </a:t>
            </a:r>
            <a:r>
              <a:rPr spc="-20" dirty="0">
                <a:solidFill>
                  <a:srgbClr val="383838"/>
                </a:solidFill>
              </a:rPr>
              <a:t>performance</a:t>
            </a:r>
            <a:r>
              <a:rPr spc="15" dirty="0">
                <a:solidFill>
                  <a:srgbClr val="383838"/>
                </a:solidFill>
              </a:rPr>
              <a:t> </a:t>
            </a:r>
            <a:r>
              <a:rPr dirty="0">
                <a:solidFill>
                  <a:srgbClr val="424242"/>
                </a:solidFill>
              </a:rPr>
              <a:t>and</a:t>
            </a:r>
            <a:r>
              <a:rPr spc="-185" dirty="0">
                <a:solidFill>
                  <a:srgbClr val="424242"/>
                </a:solidFill>
              </a:rPr>
              <a:t> </a:t>
            </a:r>
            <a:r>
              <a:rPr spc="-10" dirty="0"/>
              <a:t>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5726" y="6141174"/>
            <a:ext cx="2057528" cy="3612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0"/>
              </a:spcBef>
            </a:pPr>
            <a:r>
              <a:rPr spc="-110" dirty="0"/>
              <a:t>Stmtegic</a:t>
            </a:r>
            <a:r>
              <a:rPr spc="-204" dirty="0"/>
              <a:t> </a:t>
            </a:r>
            <a:r>
              <a:rPr spc="-185" dirty="0">
                <a:solidFill>
                  <a:srgbClr val="2A2A2A"/>
                </a:solidFill>
              </a:rPr>
              <a:t>Solutions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44363" y="6672960"/>
            <a:ext cx="4764405" cy="1391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7200"/>
              </a:lnSpc>
              <a:spcBef>
                <a:spcPts val="95"/>
              </a:spcBef>
              <a:tabLst>
                <a:tab pos="1414145" algn="l"/>
              </a:tabLst>
            </a:pPr>
            <a:r>
              <a:rPr sz="2550" spc="-114" dirty="0">
                <a:solidFill>
                  <a:srgbClr val="3B3B3B"/>
                </a:solidFill>
                <a:latin typeface="Cambria"/>
                <a:cs typeface="Cambria"/>
              </a:rPr>
              <a:t>Implement</a:t>
            </a:r>
            <a:r>
              <a:rPr sz="2550" dirty="0">
                <a:solidFill>
                  <a:srgbClr val="3B3B3B"/>
                </a:solidFill>
                <a:latin typeface="Cambria"/>
                <a:cs typeface="Cambria"/>
              </a:rPr>
              <a:t>	</a:t>
            </a:r>
            <a:r>
              <a:rPr sz="2550" spc="-204" dirty="0">
                <a:solidFill>
                  <a:srgbClr val="313131"/>
                </a:solidFill>
                <a:latin typeface="Cambria"/>
                <a:cs typeface="Cambria"/>
              </a:rPr>
              <a:t>biometric</a:t>
            </a:r>
            <a:r>
              <a:rPr sz="2550" spc="10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363636"/>
                </a:solidFill>
                <a:latin typeface="Cambria"/>
                <a:cs typeface="Cambria"/>
              </a:rPr>
              <a:t>access</a:t>
            </a:r>
            <a:r>
              <a:rPr sz="2550" spc="-7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550" spc="-170" dirty="0">
                <a:solidFill>
                  <a:srgbClr val="333333"/>
                </a:solidFill>
                <a:latin typeface="Cambria"/>
                <a:cs typeface="Cambria"/>
              </a:rPr>
              <a:t>control</a:t>
            </a:r>
            <a:r>
              <a:rPr sz="2550" spc="11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550" spc="-80" dirty="0">
                <a:solidFill>
                  <a:srgbClr val="3A3A3A"/>
                </a:solidFill>
                <a:latin typeface="Cambria"/>
                <a:cs typeface="Cambria"/>
              </a:rPr>
              <a:t>to </a:t>
            </a:r>
            <a:r>
              <a:rPr sz="2550" spc="-145" dirty="0">
                <a:solidFill>
                  <a:srgbClr val="313131"/>
                </a:solidFill>
                <a:latin typeface="Cambria"/>
                <a:cs typeface="Cambria"/>
              </a:rPr>
              <a:t>automate</a:t>
            </a:r>
            <a:r>
              <a:rPr sz="255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550" spc="-114" dirty="0">
                <a:solidFill>
                  <a:srgbClr val="363636"/>
                </a:solidFill>
                <a:latin typeface="Cambria"/>
                <a:cs typeface="Cambria"/>
              </a:rPr>
              <a:t>attendance</a:t>
            </a:r>
            <a:r>
              <a:rPr sz="2550" spc="7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550" spc="-155" dirty="0">
                <a:solidFill>
                  <a:srgbClr val="3B3B3B"/>
                </a:solidFill>
                <a:latin typeface="Cambria"/>
                <a:cs typeface="Cambria"/>
              </a:rPr>
              <a:t>and</a:t>
            </a:r>
            <a:r>
              <a:rPr sz="2550" spc="15" dirty="0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sz="2550" spc="-55" dirty="0">
                <a:solidFill>
                  <a:srgbClr val="363636"/>
                </a:solidFill>
                <a:latin typeface="Cambria"/>
                <a:cs typeface="Cambria"/>
              </a:rPr>
              <a:t>strictly </a:t>
            </a:r>
            <a:r>
              <a:rPr sz="2550" spc="-120" dirty="0">
                <a:solidFill>
                  <a:srgbClr val="313131"/>
                </a:solidFill>
                <a:latin typeface="Cambria"/>
                <a:cs typeface="Cambria"/>
              </a:rPr>
              <a:t>enforce</a:t>
            </a:r>
            <a:r>
              <a:rPr sz="2550" spc="-1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550" spc="-185" dirty="0">
                <a:solidFill>
                  <a:srgbClr val="363636"/>
                </a:solidFill>
                <a:latin typeface="Cambria"/>
                <a:cs typeface="Cambria"/>
              </a:rPr>
              <a:t>curfew</a:t>
            </a:r>
            <a:r>
              <a:rPr sz="2550" spc="7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550" spc="-175" dirty="0">
                <a:solidFill>
                  <a:srgbClr val="424242"/>
                </a:solidFill>
                <a:latin typeface="Cambria"/>
                <a:cs typeface="Cambria"/>
              </a:rPr>
              <a:t>timings</a:t>
            </a:r>
            <a:r>
              <a:rPr sz="2550" spc="55" dirty="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sz="2550" spc="-225" dirty="0">
                <a:solidFill>
                  <a:srgbClr val="363636"/>
                </a:solidFill>
                <a:latin typeface="Cambria"/>
                <a:cs typeface="Cambria"/>
              </a:rPr>
              <a:t>without</a:t>
            </a:r>
            <a:r>
              <a:rPr sz="2550" spc="13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3B3B3B"/>
                </a:solidFill>
                <a:latin typeface="Cambria"/>
                <a:cs typeface="Cambria"/>
              </a:rPr>
              <a:t>bias.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7518" y="5986462"/>
            <a:ext cx="4840605" cy="2078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3200" spc="-55" dirty="0">
                <a:solidFill>
                  <a:srgbClr val="242424"/>
                </a:solidFill>
                <a:latin typeface="Cambria"/>
                <a:cs typeface="Cambria"/>
              </a:rPr>
              <a:t>Tiered</a:t>
            </a:r>
            <a:r>
              <a:rPr sz="3200" spc="-145" dirty="0">
                <a:solidFill>
                  <a:srgbClr val="242424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242424"/>
                </a:solidFill>
                <a:latin typeface="Cambria"/>
                <a:cs typeface="Cambria"/>
              </a:rPr>
              <a:t>Penalties</a:t>
            </a:r>
            <a:endParaRPr sz="3200">
              <a:latin typeface="Cambria"/>
              <a:cs typeface="Cambria"/>
            </a:endParaRPr>
          </a:p>
          <a:p>
            <a:pPr marL="12700" marR="5080" indent="-11430" algn="ctr">
              <a:lnSpc>
                <a:spcPct val="117200"/>
              </a:lnSpc>
              <a:spcBef>
                <a:spcPts val="1540"/>
              </a:spcBef>
              <a:tabLst>
                <a:tab pos="2462530" algn="l"/>
              </a:tabLst>
            </a:pPr>
            <a:r>
              <a:rPr sz="2550" spc="-185" dirty="0">
                <a:solidFill>
                  <a:srgbClr val="2D2D2D"/>
                </a:solidFill>
                <a:latin typeface="Cambria"/>
                <a:cs typeface="Cambria"/>
              </a:rPr>
              <a:t>Introduce</a:t>
            </a:r>
            <a:r>
              <a:rPr sz="2550" spc="50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550" spc="75" dirty="0">
                <a:solidFill>
                  <a:srgbClr val="3A3A3A"/>
                </a:solidFill>
                <a:latin typeface="Cambria"/>
                <a:cs typeface="Cambria"/>
              </a:rPr>
              <a:t>a</a:t>
            </a:r>
            <a:r>
              <a:rPr sz="2550" spc="-140" dirty="0">
                <a:solidFill>
                  <a:srgbClr val="3A3A3A"/>
                </a:solidFill>
                <a:latin typeface="Cambria"/>
                <a:cs typeface="Cambria"/>
              </a:rPr>
              <a:t> </a:t>
            </a:r>
            <a:r>
              <a:rPr sz="2550" spc="-170" dirty="0">
                <a:solidFill>
                  <a:srgbClr val="363636"/>
                </a:solidFill>
                <a:latin typeface="Cambria"/>
                <a:cs typeface="Cambria"/>
              </a:rPr>
              <a:t>transparent</a:t>
            </a:r>
            <a:r>
              <a:rPr sz="2550" spc="18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550" spc="-120" dirty="0">
                <a:solidFill>
                  <a:srgbClr val="363636"/>
                </a:solidFill>
                <a:latin typeface="Cambria"/>
                <a:cs typeface="Cambria"/>
              </a:rPr>
              <a:t>system</a:t>
            </a:r>
            <a:r>
              <a:rPr sz="2550" spc="3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550" spc="-25" dirty="0">
                <a:solidFill>
                  <a:srgbClr val="383838"/>
                </a:solidFill>
                <a:latin typeface="Cambria"/>
                <a:cs typeface="Cambria"/>
              </a:rPr>
              <a:t>of </a:t>
            </a:r>
            <a:r>
              <a:rPr sz="2550" spc="-105" dirty="0">
                <a:solidFill>
                  <a:srgbClr val="383838"/>
                </a:solidFill>
                <a:latin typeface="Cambria"/>
                <a:cs typeface="Cambria"/>
              </a:rPr>
              <a:t>escalating</a:t>
            </a:r>
            <a:r>
              <a:rPr sz="2550" spc="65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sz="2550" spc="-105" dirty="0">
                <a:solidFill>
                  <a:srgbClr val="444444"/>
                </a:solidFill>
                <a:latin typeface="Cambria"/>
                <a:cs typeface="Cambria"/>
              </a:rPr>
              <a:t>fines</a:t>
            </a:r>
            <a:r>
              <a:rPr sz="2550" spc="-3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550" spc="-155" dirty="0">
                <a:solidFill>
                  <a:srgbClr val="3A3A3A"/>
                </a:solidFill>
                <a:latin typeface="Cambria"/>
                <a:cs typeface="Cambria"/>
              </a:rPr>
              <a:t>for</a:t>
            </a:r>
            <a:r>
              <a:rPr sz="2550" spc="15" dirty="0">
                <a:solidFill>
                  <a:srgbClr val="3A3A3A"/>
                </a:solidFill>
                <a:latin typeface="Cambria"/>
                <a:cs typeface="Cambria"/>
              </a:rPr>
              <a:t> </a:t>
            </a:r>
            <a:r>
              <a:rPr sz="2550" spc="-150" dirty="0">
                <a:solidFill>
                  <a:srgbClr val="3B3B3B"/>
                </a:solidFill>
                <a:latin typeface="Cambria"/>
                <a:cs typeface="Cambria"/>
              </a:rPr>
              <a:t>repeat</a:t>
            </a:r>
            <a:r>
              <a:rPr sz="2550" spc="35" dirty="0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sz="2550" spc="-135" dirty="0">
                <a:solidFill>
                  <a:srgbClr val="313131"/>
                </a:solidFill>
                <a:latin typeface="Cambria"/>
                <a:cs typeface="Cambria"/>
              </a:rPr>
              <a:t>offenders</a:t>
            </a:r>
            <a:r>
              <a:rPr sz="2550" spc="4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550" spc="-25" dirty="0">
                <a:solidFill>
                  <a:srgbClr val="2D2D2D"/>
                </a:solidFill>
                <a:latin typeface="Cambria"/>
                <a:cs typeface="Cambria"/>
              </a:rPr>
              <a:t>to </a:t>
            </a:r>
            <a:r>
              <a:rPr sz="2550" spc="-135" dirty="0">
                <a:solidFill>
                  <a:srgbClr val="2F2F2F"/>
                </a:solidFill>
                <a:latin typeface="Cambria"/>
                <a:cs typeface="Cambria"/>
              </a:rPr>
              <a:t>deter</a:t>
            </a:r>
            <a:r>
              <a:rPr sz="2550" spc="3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550" spc="-190" dirty="0">
                <a:solidFill>
                  <a:srgbClr val="383838"/>
                </a:solidFill>
                <a:latin typeface="Cambria"/>
                <a:cs typeface="Cambria"/>
              </a:rPr>
              <a:t>rule-</a:t>
            </a:r>
            <a:r>
              <a:rPr sz="2550" spc="-70" dirty="0">
                <a:solidFill>
                  <a:srgbClr val="383838"/>
                </a:solidFill>
                <a:latin typeface="Cambria"/>
                <a:cs typeface="Cambria"/>
              </a:rPr>
              <a:t>breaking</a:t>
            </a:r>
            <a:r>
              <a:rPr sz="2550" dirty="0">
                <a:solidFill>
                  <a:srgbClr val="383838"/>
                </a:solidFill>
                <a:latin typeface="Cambria"/>
                <a:cs typeface="Cambria"/>
              </a:rPr>
              <a:t>	</a:t>
            </a:r>
            <a:r>
              <a:rPr sz="2550" spc="-65" dirty="0">
                <a:solidFill>
                  <a:srgbClr val="313131"/>
                </a:solidFill>
                <a:latin typeface="Cambria"/>
                <a:cs typeface="Cambria"/>
              </a:rPr>
              <a:t>effectively.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5107" y="5986462"/>
            <a:ext cx="4820920" cy="2515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solidFill>
                  <a:srgbClr val="232323"/>
                </a:solidFill>
                <a:latin typeface="Times New Roman"/>
                <a:cs typeface="Times New Roman"/>
              </a:rPr>
              <a:t>Maintenance</a:t>
            </a:r>
            <a:r>
              <a:rPr sz="3200" spc="10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232323"/>
                </a:solidFill>
                <a:latin typeface="Times New Roman"/>
                <a:cs typeface="Times New Roman"/>
              </a:rPr>
              <a:t>Ftind</a:t>
            </a:r>
            <a:endParaRPr sz="3200">
              <a:latin typeface="Times New Roman"/>
              <a:cs typeface="Times New Roman"/>
            </a:endParaRPr>
          </a:p>
          <a:p>
            <a:pPr marL="12700" marR="5080" algn="ctr">
              <a:lnSpc>
                <a:spcPct val="120600"/>
              </a:lnSpc>
              <a:spcBef>
                <a:spcPts val="1560"/>
              </a:spcBef>
            </a:pPr>
            <a:r>
              <a:rPr sz="2450" spc="-145" dirty="0">
                <a:solidFill>
                  <a:srgbClr val="363636"/>
                </a:solidFill>
                <a:latin typeface="Arial MT"/>
                <a:cs typeface="Arial MT"/>
              </a:rPr>
              <a:t>Request</a:t>
            </a:r>
            <a:r>
              <a:rPr sz="2450" spc="-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2450" spc="-16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450" spc="-114" dirty="0">
                <a:solidFill>
                  <a:srgbClr val="333333"/>
                </a:solidFill>
                <a:latin typeface="Arial MT"/>
                <a:cs typeface="Arial MT"/>
              </a:rPr>
              <a:t>specific</a:t>
            </a:r>
            <a:r>
              <a:rPr sz="245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145" dirty="0">
                <a:solidFill>
                  <a:srgbClr val="3D3D3D"/>
                </a:solidFill>
                <a:latin typeface="Arial MT"/>
                <a:cs typeface="Arial MT"/>
              </a:rPr>
              <a:t>"Emergency</a:t>
            </a:r>
            <a:r>
              <a:rPr sz="2450" spc="9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3F3F3F"/>
                </a:solidFill>
                <a:latin typeface="Arial MT"/>
                <a:cs typeface="Arial MT"/>
              </a:rPr>
              <a:t>Repair </a:t>
            </a:r>
            <a:r>
              <a:rPr sz="2450" spc="-125" dirty="0">
                <a:solidFill>
                  <a:srgbClr val="383838"/>
                </a:solidFill>
                <a:latin typeface="Arial MT"/>
                <a:cs typeface="Arial MT"/>
              </a:rPr>
              <a:t>Grant"</a:t>
            </a:r>
            <a:r>
              <a:rPr sz="2450" spc="2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rgbClr val="313131"/>
                </a:solidFill>
                <a:latin typeface="Arial MT"/>
                <a:cs typeface="Arial MT"/>
              </a:rPr>
              <a:t>from</a:t>
            </a:r>
            <a:r>
              <a:rPr sz="2450" spc="-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3B3B3B"/>
                </a:solidFill>
                <a:latin typeface="Arial MT"/>
                <a:cs typeface="Arial MT"/>
              </a:rPr>
              <a:t>the</a:t>
            </a:r>
            <a:r>
              <a:rPr sz="2450" spc="-4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rgbClr val="313131"/>
                </a:solidFill>
                <a:latin typeface="Arial MT"/>
                <a:cs typeface="Arial MT"/>
              </a:rPr>
              <a:t>administration</a:t>
            </a:r>
            <a:r>
              <a:rPr sz="2450" spc="-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B3B3B"/>
                </a:solidFill>
                <a:latin typeface="Arial MT"/>
                <a:cs typeface="Arial MT"/>
              </a:rPr>
              <a:t>and </a:t>
            </a:r>
            <a:r>
              <a:rPr sz="2450" spc="-95" dirty="0">
                <a:solidFill>
                  <a:srgbClr val="343434"/>
                </a:solidFill>
                <a:latin typeface="Arial MT"/>
                <a:cs typeface="Arial MT"/>
              </a:rPr>
              <a:t>initiate</a:t>
            </a:r>
            <a:r>
              <a:rPr sz="2450" spc="-7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3B3B3B"/>
                </a:solidFill>
                <a:latin typeface="Arial MT"/>
                <a:cs typeface="Arial MT"/>
              </a:rPr>
              <a:t>a</a:t>
            </a:r>
            <a:r>
              <a:rPr sz="2450" spc="-18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rgbClr val="343434"/>
                </a:solidFill>
                <a:latin typeface="Arial MT"/>
                <a:cs typeface="Arial MT"/>
              </a:rPr>
              <a:t>preventive</a:t>
            </a:r>
            <a:r>
              <a:rPr sz="2450" spc="9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13131"/>
                </a:solidFill>
                <a:latin typeface="Arial MT"/>
                <a:cs typeface="Arial MT"/>
              </a:rPr>
              <a:t>maintenance </a:t>
            </a:r>
            <a:r>
              <a:rPr sz="2450" spc="-35" dirty="0">
                <a:solidFill>
                  <a:srgbClr val="383838"/>
                </a:solidFill>
                <a:latin typeface="Arial MT"/>
                <a:cs typeface="Arial MT"/>
              </a:rPr>
              <a:t>schedule.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anage ChAlenges</vt:lpstr>
      <vt:lpstr>The Current Landscape</vt:lpstr>
      <vt:lpstr>Problem Area: Non-Compliance</vt:lpstr>
      <vt:lpstr>PowerPoint Presentation</vt:lpstr>
      <vt:lpstr>Stmtegic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Yashwanth kumar P</cp:lastModifiedBy>
  <cp:revision>1</cp:revision>
  <dcterms:created xsi:type="dcterms:W3CDTF">2025-11-24T02:07:26Z</dcterms:created>
  <dcterms:modified xsi:type="dcterms:W3CDTF">2025-11-24T02:09:46Z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LastSaved">
    <vt:filetime>2025-11-24T00:00:00Z</vt:filetime>
  </property>
  <property fmtid="{D5CDD505-2E9C-101B-9397-08002B2CF9AE}" pid="4" name="Producer">
    <vt:lpwstr>iText® 5.5.13.4 ©2000-2024 iText Group NV (AGPL-version)</vt:lpwstr>
  </property>
</Properties>
</file>